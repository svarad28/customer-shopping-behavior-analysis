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56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Analysis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2212848"/>
            <a:ext cx="2286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317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Insights from 3,900 Transactions to Drive Strategic Growth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3218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Power BI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30175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25732" y="2128817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VARAD SANJAY SAWANT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30175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35040" y="3218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8680" y="3886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·  Customer Intelligence  ·  Business Strategy</a:t>
            </a:r>
            <a:endParaRPr lang="en-US" sz="11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7AC9E837-B42F-BF94-DAF2-333C896DB380}"/>
              </a:ext>
            </a:extLst>
          </p:cNvPr>
          <p:cNvSpPr/>
          <p:nvPr/>
        </p:nvSpPr>
        <p:spPr>
          <a:xfrm>
            <a:off x="5925732" y="18333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01B7410-1AA9-5180-0776-3A5619B290FB}"/>
              </a:ext>
            </a:extLst>
          </p:cNvPr>
          <p:cNvSpPr/>
          <p:nvPr/>
        </p:nvSpPr>
        <p:spPr>
          <a:xfrm>
            <a:off x="3136707" y="32400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Records  ·  18 Features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— Why This Matters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6908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54864" cy="3657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lack clear visibility into what drives customer purchase decisions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54864" cy="3657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860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strategies are applied broadly without understanding their true impact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4864" cy="3657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175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is rarely data-driven, missing revenue opportunities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67328"/>
            <a:ext cx="54864" cy="3657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490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view of subscription behaviour vs. non-subscriber patterns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069080" cy="3657600"/>
          </a:xfrm>
          <a:prstGeom prst="rect">
            <a:avLst/>
          </a:prstGeom>
          <a:solidFill>
            <a:srgbClr val="0A254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9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00200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21808" y="15544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3,900 transactions to understand spending patterns by gender, age, and category</a:t>
            </a:r>
            <a:endParaRPr lang="en-US" sz="11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331720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21808" y="22860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customer segments: New, Returning, and Loyal buyers</a:t>
            </a:r>
            <a:endParaRPr lang="en-US" sz="11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06324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21808" y="30175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discount dependency and its effect on revenue margins</a:t>
            </a:r>
            <a:endParaRPr lang="en-US" sz="11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79476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21808" y="37490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recommendations backed by SQL and Python analysis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— About the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07899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14813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29768" y="2029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07899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10128" y="14813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3310128" y="2029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076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07899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90488" y="14813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6190488" y="20299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 Rating)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20040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20040" y="2999232"/>
            <a:ext cx="850392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3044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560320" y="304495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Location, Subscription Status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20040" y="3474720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3520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Details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560320" y="35204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Category, Amount, Season, Size, Color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320040" y="3950208"/>
            <a:ext cx="850392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39959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Signals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2560320" y="399592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Applied, Promo Code, Review Rating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20040" y="4425696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57200" y="44714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Metrics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2560320" y="4471416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Purchases, Purchase Frequency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— The Tech Stack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9748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269748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1234440"/>
            <a:ext cx="713232" cy="7132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0116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11480" y="24231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234440" y="2743200"/>
            <a:ext cx="86868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" y="288036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 for preprocessing; feature engineering and imputation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0" y="1005840"/>
            <a:ext cx="269748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1005840"/>
            <a:ext cx="269748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1234440"/>
            <a:ext cx="713232" cy="7132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20116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291840" y="24231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114800" y="2743200"/>
            <a:ext cx="86868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01568" y="288036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structured business queries covering revenue, segments, and product performance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80760" y="1005840"/>
            <a:ext cx="2697480" cy="3840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80760" y="1005840"/>
            <a:ext cx="2697480" cy="731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1234440"/>
            <a:ext cx="713232" cy="7132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72200" y="20116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172200" y="24231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VIZ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995160" y="2743200"/>
            <a:ext cx="868680" cy="3657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81928" y="288036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executive-level insights and KPI monitoring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— Preparing the Foundation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8408" y="10972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48132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 using pandas; verified shape (3,900 × 18) with df.info() and .describe()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64008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972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21808" y="10972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48132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37 nulls in Review Rating; imputed using median rating per product category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3172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31720"/>
            <a:ext cx="64008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23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78408" y="24231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80720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all columns to snake_case for consistency and documentation clarity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331720"/>
            <a:ext cx="64008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423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21808" y="24231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280720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(binned) and purchase_frequency_days from existing transaction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65760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657600"/>
            <a:ext cx="64008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490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78408" y="37490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Check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13308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discount_applied vs promo_code_used overlap; dropped promo_code_used as redundant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65760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657600"/>
            <a:ext cx="64008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490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21808" y="37490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413308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cleaned DataFrame into MySQL via Python connector for structured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— Reading the Data Story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6908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40690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161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1581912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account for slightly higher transaction volume; both segments show comparable average spend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26080"/>
            <a:ext cx="406908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926080"/>
            <a:ext cx="40690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30906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Patterns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3456432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 customers (35-54) drive the highest revenue contribution across all product categories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406908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51560"/>
            <a:ext cx="40690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2161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9472" y="1581912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 peaks in Fall and Spring, with Summer driving the highest per-transaction amounts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06908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926080"/>
            <a:ext cx="40690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0906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Behaviour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3456432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of purchases used a discount; discount users are not exclusively low-spend customers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00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Customers using discounts still spend above-average — suggesting discount does not erode quality-of-purchase.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— How We Answered the Business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06908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33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03327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32588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total revenue generated by male vs. female customers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87552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33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30368" y="103327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 Discount Users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0368" y="132588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customers using discounts but spending above-average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783080"/>
            <a:ext cx="4069080" cy="71323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18288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21214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highest average review ratings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783080"/>
            <a:ext cx="4069080" cy="71323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30368" y="18288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Comparison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0368" y="21214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spend: Standard vs. Express shipping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578608"/>
            <a:ext cx="406908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6243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6968" y="26243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vs. Non-Subscribers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" y="291693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and total revenue by subscription status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578608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6243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26243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Discount-Dependent Products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30368" y="291693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products with the highest % of discounted purchases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374136"/>
            <a:ext cx="4069080" cy="71323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4198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" y="341985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6968" y="371246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Returning, Loyal classification by purchase history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374136"/>
            <a:ext cx="4069080" cy="71323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4198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0368" y="341985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per Category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30368" y="371246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purchased products within each product category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169664"/>
            <a:ext cx="406908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42153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6968" y="421538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&amp; Subscriptions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6968" y="450799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customers with &gt;5 purchases subscribe more?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4169664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42153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30368" y="421538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30368" y="450799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of each age group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Revenue by Gender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— Who Spends More?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502920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188720"/>
            <a:ext cx="315468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1188720"/>
            <a:ext cx="64008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2984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$157K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52160" y="17099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Revenue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19385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of total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2450592"/>
            <a:ext cx="315468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0" y="2450592"/>
            <a:ext cx="64008" cy="1051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2560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$133K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852160" y="2971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Revenue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52160" y="3200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total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3712464"/>
            <a:ext cx="315468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3712464"/>
            <a:ext cx="64008" cy="10515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38221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852160" y="42336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Difference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52160" y="44622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vs Female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Revenue by Age Group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09 - Where Does Spending Concentrate?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53949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987552"/>
            <a:ext cx="2834640" cy="1078992"/>
          </a:xfrm>
          <a:prstGeom prst="rect">
            <a:avLst/>
          </a:prstGeom>
          <a:solidFill>
            <a:srgbClr val="F0FDF9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987552"/>
            <a:ext cx="64008" cy="10789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07899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SEGMENT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72200" y="129844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35-44 yrs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72200" y="17373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$72,100 total revenue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9320" y="2176272"/>
            <a:ext cx="2834640" cy="107899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2176272"/>
            <a:ext cx="64008" cy="10789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22677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35-54 POWER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172200" y="248716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total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172200" y="29260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$140,500 - highest concentration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89320" y="3364992"/>
            <a:ext cx="2834640" cy="107899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3364992"/>
            <a:ext cx="64008" cy="107899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4564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OPPORTUNITY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72200" y="367588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25-34 yrs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172200" y="41148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$54,200 - fastest-growing tier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Focus: The 35-54 cohort drives nearly half of all revenue - priority target for loyalty programmes and premium product placement.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Customer Segments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— Who Are Our Buyers?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02920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960120"/>
            <a:ext cx="315468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960120"/>
            <a:ext cx="64008" cy="1188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15584" y="1033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949440" y="10149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815584" y="13075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~1,170 customers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15584" y="152704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purchases. Acquisition targets. Price-sensitive, respond well to welcome offers.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2286000"/>
            <a:ext cx="315468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2286000"/>
            <a:ext cx="64008" cy="1188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15584" y="2359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49440" y="23408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815584" y="2633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~1,560 customers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15584" y="285292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purchases. Core base. Most likely to upgrade to subscriptions.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0" y="3611880"/>
            <a:ext cx="315468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0" y="3611880"/>
            <a:ext cx="64008" cy="1188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15584" y="3685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949440" y="366674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815584" y="39593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~1,170 customers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15584" y="417880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purchases. High LTV. Drive word-of-mouth and anchor subscription revenue.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Power BI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— Bringing Insights to Life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3858768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850392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07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 Customer Shopping Behaviour — Power BI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8745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727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87752" y="1508760"/>
            <a:ext cx="18745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15727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79192" y="19385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72584" y="1508760"/>
            <a:ext cx="18745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5727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64024" y="19385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57416" y="1508760"/>
            <a:ext cx="1874520" cy="822960"/>
          </a:xfrm>
          <a:prstGeom prst="rect">
            <a:avLst/>
          </a:prstGeom>
          <a:solidFill>
            <a:srgbClr val="16213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15727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48856" y="19385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450592"/>
            <a:ext cx="4023360" cy="2212848"/>
          </a:xfrm>
          <a:prstGeom prst="rect">
            <a:avLst/>
          </a:prstGeom>
          <a:solidFill>
            <a:srgbClr val="16213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542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8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0"/>
            <a:ext cx="4023360" cy="190195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709160" y="2450592"/>
            <a:ext cx="3977640" cy="2212848"/>
          </a:xfrm>
          <a:prstGeom prst="rect">
            <a:avLst/>
          </a:prstGeom>
          <a:solidFill>
            <a:srgbClr val="16213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2542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846320" y="2834640"/>
            <a:ext cx="1078992" cy="475488"/>
          </a:xfrm>
          <a:prstGeom prst="rect">
            <a:avLst/>
          </a:prstGeom>
          <a:solidFill>
            <a:srgbClr val="4FC3F7"/>
          </a:solidFill>
          <a:ln w="6350">
            <a:solidFill>
              <a:srgbClr val="16213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294436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925312" y="2834640"/>
            <a:ext cx="1444752" cy="475488"/>
          </a:xfrm>
          <a:prstGeom prst="rect">
            <a:avLst/>
          </a:prstGeom>
          <a:solidFill>
            <a:srgbClr val="00C9A7"/>
          </a:solidFill>
          <a:ln w="6350">
            <a:solidFill>
              <a:srgbClr val="1621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25312" y="294436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370064" y="2834640"/>
            <a:ext cx="1078992" cy="475488"/>
          </a:xfrm>
          <a:prstGeom prst="rect">
            <a:avLst/>
          </a:prstGeom>
          <a:solidFill>
            <a:srgbClr val="FFB347"/>
          </a:solidFill>
          <a:ln w="6350">
            <a:solidFill>
              <a:srgbClr val="16213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70064" y="294436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846320" y="3483864"/>
            <a:ext cx="164592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84064" y="34564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(1-2 purchases)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949440" y="345643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~1,170 customers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46320" y="3831336"/>
            <a:ext cx="164592" cy="1645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84064" y="38039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(3-5)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949440" y="380390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 ~1,560 customers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846320" y="4178808"/>
            <a:ext cx="164592" cy="16459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84064" y="41513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(6+)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949440" y="415137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~1,170 customers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— From Insight to Action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06908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2070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887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" y="15727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 subscriber benefits — free shipping, early access, loyalty points — targeting the Returning segment with 3-5 purchases.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322576"/>
            <a:ext cx="406908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50545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48716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" y="28712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buyers to accelerate movement from Returning → Loyal segment. Tiered rewards tied to purchase milestones.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3621024"/>
            <a:ext cx="406908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80390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37856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Discount Policy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4632" y="416966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 discount users exist — apply strategic, category-specific discounts rather than blanket offers to protect margins.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1024128"/>
            <a:ext cx="406908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120700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11887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919472" y="15727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top-rated and best-selling products in targeted campaigns. Leverage Q3 SQL findings to prioritise category investment.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754880" y="2322576"/>
            <a:ext cx="4069080" cy="1691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2505456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248716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919472" y="287121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35-54 age group (highest revenue) and Express shipping users — both signal willingness to pay premium.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— Navigating Obstacles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64008" cy="86868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ISSUE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Review Ratings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11556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Imputed 37 null values using median rating per product category — preserving distribution without introducing bias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1161288"/>
            <a:ext cx="36576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84248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84248"/>
            <a:ext cx="64008" cy="86868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574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ISSUE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258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Columns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07568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discount_applied and promo_code_used were nearly identical; statistical check confirmed redundancy, promo_code_used dropped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54680" y="2121408"/>
            <a:ext cx="36576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44368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44368"/>
            <a:ext cx="64008" cy="868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175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3218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Python–MySQL Integration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46120" y="303580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Established seamless DataFrame-to-MySQL pipeline using SQLAlchemy connector after resolving charset compatibility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54680" y="3081528"/>
            <a:ext cx="36576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904488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04488"/>
            <a:ext cx="64008" cy="8686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776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4178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Loyalty Segments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46120" y="399592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No universal standard exists; binning thresholds (New: 1-2, Returning: 3-5, Loyal: 6+) calibrated to dataset distribution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154680" y="4041648"/>
            <a:ext cx="36576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— What We Learned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828800" y="1243584"/>
            <a:ext cx="36576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188720"/>
            <a:ext cx="6629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analysed across 18 dimensions — Python cleaned, SQL queried, Power BI visualised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39112"/>
            <a:ext cx="850392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055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828800" y="2203704"/>
            <a:ext cx="36576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148840"/>
            <a:ext cx="6629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business questions answered through MySQL, covering revenue, segments, and product strategy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850392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067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828800" y="3163824"/>
            <a:ext cx="36576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108960"/>
            <a:ext cx="6629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customer segments identified (New, Returning, Loyal) enabling targeted engagement strategy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959352"/>
            <a:ext cx="850392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5079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828800" y="4123944"/>
            <a:ext cx="36576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4069080"/>
            <a:ext cx="6629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driven by the 35-54 age group — the highest-priority marketing segment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00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enables data-driven decisions in marketing, discount strategy, loyalty programmes, and product positioning.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— What Comes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0690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252728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12527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Churn Modelling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" y="180136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 classification (Random Forest, XGBoost) to predict which customers are at risk of churning before they lapse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024128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24128"/>
            <a:ext cx="40690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252728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8112" y="12527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64608" y="180136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Recency-Frequency-Monetary scoring to build a quantified customer value model beyond binary loyalty tiers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20040" y="301752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3017520"/>
            <a:ext cx="406908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246120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24712" y="32461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21208" y="3794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collaborative filtering model to suggest products to customers based on similar purchase history patterns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63440" y="301752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017520"/>
            <a:ext cx="406908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246120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68112" y="32461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Framework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864608" y="3794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discount A/B tests to quantitatively measure the revenue impact of promotional strategies on different segments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59436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2860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365760" y="2944368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8862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Behaviour Analysis  ·  Python  ·  SQL  ·  Power BI  ·  April 2026</a:t>
            </a:r>
          </a:p>
          <a:p>
            <a:pPr algn="ctr"/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 For Project : https://github.com/svarad28/Customer-Shopping-Behavior-Analysis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88289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tells the story. Strategy writes the future.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1336</Words>
  <Application>Microsoft Office PowerPoint</Application>
  <PresentationFormat>On-screen Show (16:9)</PresentationFormat>
  <Paragraphs>257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Behaviour Analysis</dc:title>
  <dc:subject>PptxGenJS Presentation</dc:subject>
  <dc:creator>PptxGenJS</dc:creator>
  <cp:lastModifiedBy>Varad Sawant</cp:lastModifiedBy>
  <cp:revision>3</cp:revision>
  <dcterms:created xsi:type="dcterms:W3CDTF">2026-04-02T03:21:01Z</dcterms:created>
  <dcterms:modified xsi:type="dcterms:W3CDTF">2026-04-02T05:55:34Z</dcterms:modified>
</cp:coreProperties>
</file>