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Shopping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1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Analysis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365760" y="2212848"/>
            <a:ext cx="2286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33172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Uncovering Insights from 3,900 Transactions to Drive Strategic Growth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321868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·  SQL  ·  Power BI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0" y="30175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00400" y="321868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3,900 Records  ·  18 Features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35040" y="30175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035040" y="321868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3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3840480"/>
            <a:ext cx="411480" cy="4114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68680" y="3886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 ·  Customer Intelligence  ·  Business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 &amp; Objective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 — Why This Matters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4069080" cy="365760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887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54864" cy="36576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 lack clear visibility into what drives customer purchase decisions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304288"/>
            <a:ext cx="54864" cy="36576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2860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strategies are applied broadly without understanding their true impact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35808"/>
            <a:ext cx="54864" cy="36576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1752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segmentation is rarely data-driven, missing revenue opportunities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767328"/>
            <a:ext cx="54864" cy="36576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74904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 view of subscription behaviour vs. non-subscriber patterns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1051560"/>
            <a:ext cx="4069080" cy="3657600"/>
          </a:xfrm>
          <a:prstGeom prst="rect">
            <a:avLst/>
          </a:prstGeom>
          <a:solidFill>
            <a:srgbClr val="0A2540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11887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9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600200"/>
            <a:ext cx="256032" cy="256032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321808" y="155448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3,900 transactions to understand spending patterns by gender, age, and category</a:t>
            </a:r>
            <a:endParaRPr lang="en-US" sz="11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331720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321808" y="228600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customer segments: New, Returning, and Loyal buyers</a:t>
            </a:r>
            <a:endParaRPr lang="en-US" sz="11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063240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321808" y="301752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discount dependency and its effect on revenue margins</a:t>
            </a:r>
            <a:endParaRPr lang="en-US" sz="11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794760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321808" y="374904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actionable recommendations backed by SQL and Python analysis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Description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— About the Data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9768" y="14813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429768" y="20299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00400" y="100584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078992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10128" y="14813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600" dirty="0"/>
          </a:p>
        </p:txBody>
      </p:sp>
      <p:sp>
        <p:nvSpPr>
          <p:cNvPr id="13" name="Text 9"/>
          <p:cNvSpPr/>
          <p:nvPr/>
        </p:nvSpPr>
        <p:spPr>
          <a:xfrm>
            <a:off x="3310128" y="20299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Columns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80760" y="100584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190488" y="14813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3600" dirty="0"/>
          </a:p>
        </p:txBody>
      </p:sp>
      <p:sp>
        <p:nvSpPr>
          <p:cNvPr id="17" name="Text 12"/>
          <p:cNvSpPr/>
          <p:nvPr/>
        </p:nvSpPr>
        <p:spPr>
          <a:xfrm>
            <a:off x="6190488" y="20299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(Review Rating)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320040" y="26517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320040" y="2999232"/>
            <a:ext cx="8503920" cy="41148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57200" y="304495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2560320" y="3044952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Gender, Location, Subscription Status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20040" y="3474720"/>
            <a:ext cx="85039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57200" y="35204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Details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2560320" y="352044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Item, Category, Amount, Season, Size, Color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320040" y="3950208"/>
            <a:ext cx="8503920" cy="41148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7200" y="399592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Signals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2560320" y="3995928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Applied, Promo Code, Review Rating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20040" y="4425696"/>
            <a:ext cx="85039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57200" y="44714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Metrics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2560320" y="4471416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Purchases, Purchase Frequency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 — The Tech Stack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2697480" cy="384048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005840"/>
            <a:ext cx="269748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7592" y="1234440"/>
            <a:ext cx="713232" cy="7132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201168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242316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EDA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234440" y="2743200"/>
            <a:ext cx="868680" cy="3657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21208" y="288036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numpy for preprocessing; feature engineering and imputation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200400" y="1005840"/>
            <a:ext cx="2697480" cy="384048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1005840"/>
            <a:ext cx="2697480" cy="73152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234440"/>
            <a:ext cx="713232" cy="7132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291840" y="201168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3291840" y="242316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114800" y="2743200"/>
            <a:ext cx="86868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401568" y="288036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structured business queries covering revenue, segments, and product performance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080760" y="1005840"/>
            <a:ext cx="2697480" cy="384048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080760" y="1005840"/>
            <a:ext cx="2697480" cy="73152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1234440"/>
            <a:ext cx="713232" cy="7132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172200" y="201168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2200" dirty="0"/>
          </a:p>
        </p:txBody>
      </p:sp>
      <p:sp>
        <p:nvSpPr>
          <p:cNvPr id="24" name="Text 19"/>
          <p:cNvSpPr/>
          <p:nvPr/>
        </p:nvSpPr>
        <p:spPr>
          <a:xfrm>
            <a:off x="6172200" y="242316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VIZ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995160" y="2743200"/>
            <a:ext cx="868680" cy="36576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281928" y="288036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for executive-level insights and KPI monitoring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Preprocessing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— Preparing the Foundation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4069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05840"/>
            <a:ext cx="64008" cy="1234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78408" y="109728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481328"/>
            <a:ext cx="3794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dataset using pandas; verified shape (3,900 × 18) with df.info() and .describe()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069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005840"/>
            <a:ext cx="64008" cy="1234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09728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321808" y="109728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 Handling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1481328"/>
            <a:ext cx="3794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37 nulls in Review Rating; imputed using median rating per product category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331720"/>
            <a:ext cx="4069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331720"/>
            <a:ext cx="64008" cy="1234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4231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78408" y="242316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Standardization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2807208"/>
            <a:ext cx="3794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Renamed all columns to snake_case for consistency and documentation clarity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331720"/>
            <a:ext cx="4069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331720"/>
            <a:ext cx="64008" cy="1234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24231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321808" y="242316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2807208"/>
            <a:ext cx="3794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age_group (binned) and purchase_frequency_days from existing transaction data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" y="3657600"/>
            <a:ext cx="4069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3657600"/>
            <a:ext cx="64008" cy="1234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74904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78408" y="37490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Redundancy Check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4133088"/>
            <a:ext cx="3794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discount_applied vs promo_code_used overlap; dropped promo_code_used as redundant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663440" y="3657600"/>
            <a:ext cx="4069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3657600"/>
            <a:ext cx="64008" cy="1234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374904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321808" y="37490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Integration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00600" y="4133088"/>
            <a:ext cx="3794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cleaned DataFrame into MySQL via Python connector for structured SQL analysis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 — Reading the Data Story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4069080" cy="169164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051560"/>
            <a:ext cx="406908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121615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Distribution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4632" y="1581912"/>
            <a:ext cx="3703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customers account for slightly higher transaction volume; both segments show comparable average spend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926080"/>
            <a:ext cx="4069080" cy="169164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2926080"/>
            <a:ext cx="406908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309067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 Patterns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" y="3456432"/>
            <a:ext cx="3703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Middle-aged customers (35-54) drive the highest revenue contribution across all product categories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051560"/>
            <a:ext cx="4069080" cy="169164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1051560"/>
            <a:ext cx="406908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19472" y="121615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Trends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19472" y="1581912"/>
            <a:ext cx="3703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frequency peaks in Fall and Spring, with Summer driving the highest per-transaction amounts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2926080"/>
            <a:ext cx="4069080" cy="169164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2926080"/>
            <a:ext cx="406908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19472" y="309067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Behaviour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19472" y="3456432"/>
            <a:ext cx="3703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~45% of purchases used a discount; discount users are not exclusively low-spend customers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4663440"/>
            <a:ext cx="8503920" cy="347472"/>
          </a:xfrm>
          <a:prstGeom prst="rect">
            <a:avLst/>
          </a:prstGeom>
          <a:solidFill>
            <a:srgbClr val="0A2540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7000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Observation: Customers using discounts still spend above-average — suggesting discount does not erode quality-of-purchase.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SQL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 — How We Answered the Business Questions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87552"/>
            <a:ext cx="4069080" cy="71323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03327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033272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Gender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1325880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total revenue generated by male vs. female customers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987552"/>
            <a:ext cx="40690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73168" y="103327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30368" y="1033272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High-Spend Discount Users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30368" y="1325880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customers using discounts but spending above-average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1783080"/>
            <a:ext cx="4069080" cy="713232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18288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968" y="1828800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Products by Rating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968" y="2121408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highest average review ratings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783080"/>
            <a:ext cx="4069080" cy="713232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18288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30368" y="1828800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Type Comparison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30368" y="2121408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spend: Standard vs. Express shipping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2578608"/>
            <a:ext cx="4069080" cy="71323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" y="262432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86968" y="2624328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Subscribers vs. Non-Subscribers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86968" y="2916936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spend and total revenue by subscription status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2578608"/>
            <a:ext cx="40690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262432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30368" y="2624328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Discount-Dependent Products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2916936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products with the highest % of discounted purchases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3374136"/>
            <a:ext cx="4069080" cy="713232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9768" y="3419856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86968" y="3419856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86968" y="3712464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Returning, Loyal classification by purchase history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63440" y="3374136"/>
            <a:ext cx="4069080" cy="713232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3419856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230368" y="3419856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Products per Category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30368" y="3712464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purchased products within each product category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0040" y="4169664"/>
            <a:ext cx="4069080" cy="71323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9768" y="421538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Q9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86968" y="4215384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Buyers &amp; Subscriptions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86968" y="4507992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customers with &gt;5 purchases subscribe more?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663440" y="4169664"/>
            <a:ext cx="40690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73168" y="421538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230368" y="4215384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Age Group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230368" y="4507992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contribution of each age group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Revenue by Gender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 — Who Spends More?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5029200" cy="3931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188720"/>
            <a:ext cx="3154680" cy="105156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0" y="1188720"/>
            <a:ext cx="64008" cy="10515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1298448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$157K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5852160" y="17099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Revenue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1938528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54% of total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0" y="2450592"/>
            <a:ext cx="3154680" cy="105156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0" y="2450592"/>
            <a:ext cx="64008" cy="10515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52160" y="25603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$133K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5852160" y="29718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Revenue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852160" y="32004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total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0" y="3712464"/>
            <a:ext cx="3154680" cy="105156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669280" y="3712464"/>
            <a:ext cx="64008" cy="105156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852160" y="382219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5852160" y="423367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Difference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852160" y="446227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vs Female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Revenue by Age Group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09 - Where Does Spending Concentrate?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5394960" cy="3520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987552"/>
            <a:ext cx="2834640" cy="1078992"/>
          </a:xfrm>
          <a:prstGeom prst="rect">
            <a:avLst/>
          </a:prstGeom>
          <a:solidFill>
            <a:srgbClr val="F0FD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989320" y="987552"/>
            <a:ext cx="64008" cy="107899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72200" y="107899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REVENUE SEGMENT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72200" y="1298448"/>
            <a:ext cx="2514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35-44 yrs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6172200" y="173736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$72,100 total revenue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89320" y="2176272"/>
            <a:ext cx="2834640" cy="1078992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989320" y="2176272"/>
            <a:ext cx="64008" cy="1078992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72200" y="22677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35-54 POWER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172200" y="2487168"/>
            <a:ext cx="2514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 of total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172200" y="292608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$140,500 - highest concentration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89320" y="3364992"/>
            <a:ext cx="2834640" cy="1078992"/>
          </a:xfrm>
          <a:prstGeom prst="rect">
            <a:avLst/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989320" y="3364992"/>
            <a:ext cx="64008" cy="1078992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72200" y="345643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OPPORTUNITY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172200" y="3675888"/>
            <a:ext cx="2514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25-34 yrs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6172200" y="411480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$54,200 - fastest-growing tier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0040" y="4645152"/>
            <a:ext cx="850392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" y="46817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Focus: The 35-54 cohort drives nearly half of all revenue - priority target for loyalty programmes and premium product placement.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Customer Segments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— Who Are Our Buyers?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14400"/>
            <a:ext cx="5029200" cy="4023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960120"/>
            <a:ext cx="3154680" cy="118872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0" y="960120"/>
            <a:ext cx="64008" cy="1188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15584" y="103327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949440" y="101498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5815584" y="130759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~1,170 customers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815584" y="1527048"/>
            <a:ext cx="2880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purchases. Acquisition targets. Price-sensitive, respond well to welcome offers.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0" y="2286000"/>
            <a:ext cx="3154680" cy="118872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669280" y="2286000"/>
            <a:ext cx="64008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15584" y="23591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949440" y="234086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5815584" y="263347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~1,560 customers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815584" y="2852928"/>
            <a:ext cx="2880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purchases. Core base. Most likely to upgrade to subscriptions.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0" y="3611880"/>
            <a:ext cx="3154680" cy="118872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69280" y="3611880"/>
            <a:ext cx="64008" cy="11887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15584" y="368503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366674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5815584" y="395935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~1,170 customers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815584" y="4178808"/>
            <a:ext cx="2880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 purchases. High LTV. Drive word-of-mouth and anchor subscription revenue.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— Power BI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— Bringing Insights to Life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8503920" cy="3858768"/>
          </a:xfrm>
          <a:prstGeom prst="rect">
            <a:avLst/>
          </a:prstGeom>
          <a:solidFill>
            <a:srgbClr val="1A1A2E"/>
          </a:solidFill>
          <a:ln w="12700">
            <a:solidFill>
              <a:srgbClr val="2D2D4E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05840"/>
            <a:ext cx="8503920" cy="411480"/>
          </a:xfrm>
          <a:prstGeom prst="rect">
            <a:avLst/>
          </a:prstGeom>
          <a:solidFill>
            <a:srgbClr val="16213E"/>
          </a:solidFill>
          <a:ln w="12700">
            <a:solidFill>
              <a:srgbClr val="2D2D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60704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Customer Shopping Behaviour — Power BI Dashboard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8745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2D2D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57276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$290K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4360" y="1938528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87752" y="1508760"/>
            <a:ext cx="18745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2D2D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9192" y="157276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679192" y="1938528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72584" y="1508760"/>
            <a:ext cx="18745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2D2D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64024" y="157276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4.2★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64024" y="1938528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Rating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57416" y="1508760"/>
            <a:ext cx="18745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2D2D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48856" y="157276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848856" y="1938528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2450592"/>
            <a:ext cx="4023360" cy="2212848"/>
          </a:xfrm>
          <a:prstGeom prst="rect">
            <a:avLst/>
          </a:prstGeom>
          <a:solidFill>
            <a:srgbClr val="16213E"/>
          </a:solidFill>
          <a:ln w="12700">
            <a:solidFill>
              <a:srgbClr val="2D2D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54203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CATEGORY</a:t>
            </a:r>
            <a:endParaRPr lang="en-US" sz="8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0"/>
            <a:ext cx="4023360" cy="1901952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4709160" y="2450592"/>
            <a:ext cx="3977640" cy="2212848"/>
          </a:xfrm>
          <a:prstGeom prst="rect">
            <a:avLst/>
          </a:prstGeom>
          <a:solidFill>
            <a:srgbClr val="16213E"/>
          </a:solidFill>
          <a:ln w="12700">
            <a:solidFill>
              <a:srgbClr val="2D2D4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46320" y="2542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SEGMENTS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46320" y="2834640"/>
            <a:ext cx="1078992" cy="475488"/>
          </a:xfrm>
          <a:prstGeom prst="rect">
            <a:avLst/>
          </a:prstGeom>
          <a:solidFill>
            <a:srgbClr val="4FC3F7"/>
          </a:solidFill>
          <a:ln w="6350">
            <a:solidFill>
              <a:srgbClr val="16213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46320" y="2944368"/>
            <a:ext cx="1078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925312" y="2834640"/>
            <a:ext cx="1444752" cy="475488"/>
          </a:xfrm>
          <a:prstGeom prst="rect">
            <a:avLst/>
          </a:prstGeom>
          <a:solidFill>
            <a:srgbClr val="00C9A7"/>
          </a:solidFill>
          <a:ln w="6350">
            <a:solidFill>
              <a:srgbClr val="16213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25312" y="2944368"/>
            <a:ext cx="1444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7370064" y="2834640"/>
            <a:ext cx="1078992" cy="475488"/>
          </a:xfrm>
          <a:prstGeom prst="rect">
            <a:avLst/>
          </a:prstGeom>
          <a:solidFill>
            <a:srgbClr val="FFB347"/>
          </a:solidFill>
          <a:ln w="6350">
            <a:solidFill>
              <a:srgbClr val="16213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70064" y="2944368"/>
            <a:ext cx="1078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846320" y="3483864"/>
            <a:ext cx="164592" cy="164592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84064" y="345643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(1-2 purchases)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949440" y="3456432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 ~1,170 customers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846320" y="3831336"/>
            <a:ext cx="164592" cy="16459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84064" y="380390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(3-5)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6949440" y="3803904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 ~1,560 customers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846320" y="4178808"/>
            <a:ext cx="164592" cy="164592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084064" y="415137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 (6+)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6949440" y="4151376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 ~1,170 customers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Recommendations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 — From Insight to Action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24128"/>
            <a:ext cx="4069080" cy="117043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0700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18872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Subscriptions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84632" y="157276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exclusive subscriber benefits — free shipping, early access, loyalty points — targeting the Returning segment with 3-5 purchases.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0040" y="2322576"/>
            <a:ext cx="4069080" cy="117043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505456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2487168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Loyalty Program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84632" y="2871216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repeat buyers to accelerate movement from Returning → Loyal segment. Tiered rewards tied to purchase milestones.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20040" y="3621024"/>
            <a:ext cx="4069080" cy="117043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803904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14400" y="378561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Rethink Discount Policy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84632" y="4169664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High-spend discount users exist — apply strategic, category-specific discounts rather than blanket offers to protect margins.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754880" y="1024128"/>
            <a:ext cx="4069080" cy="117043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207008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118872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Positioning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919472" y="157276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top-rated and best-selling products in targeted campaigns. Leverage Q3 SQL findings to prioritise category investment.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754880" y="2322576"/>
            <a:ext cx="4069080" cy="169164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505456"/>
            <a:ext cx="347472" cy="34747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349240" y="2487168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Marketing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4919472" y="2871216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35-54 age group (highest revenue) and Express shipping users — both signal willingness to pay premium.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 — Navigating Obstacles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24128"/>
            <a:ext cx="8503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24128"/>
            <a:ext cx="64008" cy="86868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9728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ISSUE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298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Review Ratings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46120" y="1115568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Imputed 37 null values using median rating per product category — preserving distribution without introducing bias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54680" y="1161288"/>
            <a:ext cx="36576" cy="5943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984248"/>
            <a:ext cx="8503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1984248"/>
            <a:ext cx="64008" cy="86868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05740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ISSUE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2920" y="2258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Columns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46120" y="2075688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discount_applied and promo_code_used were nearly identical; statistical check confirmed redundancy, promo_code_used dropped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154680" y="2121408"/>
            <a:ext cx="36576" cy="5943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2944368"/>
            <a:ext cx="8503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944368"/>
            <a:ext cx="64008" cy="8686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01752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2920" y="321868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Python–MySQL Integration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46120" y="3035808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Established seamless DataFrame-to-MySQL pipeline using SQLAlchemy connector after resolving charset compatibility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154680" y="3081528"/>
            <a:ext cx="36576" cy="5943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3904488"/>
            <a:ext cx="8503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" y="3904488"/>
            <a:ext cx="64008" cy="86868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7764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" y="41788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Loyalty Segments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46120" y="3995928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No universal standard exists; binning thresholds (New: 1-2, Returning: 3-5, Loyal: 6+) calibrated to dataset distribution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154680" y="4041648"/>
            <a:ext cx="36576" cy="5943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— What We Learned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82296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70432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3,900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828800" y="1243584"/>
            <a:ext cx="36576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1188720"/>
            <a:ext cx="6629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analysed across 18 dimensions — Python cleaned, SQL queried, Power BI visualised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039112"/>
            <a:ext cx="8503920" cy="82296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30552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1828800" y="2203704"/>
            <a:ext cx="36576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11680" y="2148840"/>
            <a:ext cx="6629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business questions answered through MySQL, covering revenue, segments, and product strategy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2999232"/>
            <a:ext cx="8503920" cy="82296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090672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1828800" y="3163824"/>
            <a:ext cx="36576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0" y="3108960"/>
            <a:ext cx="6629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customer segments identified (New, Returning, Loyal) enabling targeted engagement strategy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3959352"/>
            <a:ext cx="8503920" cy="82296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050792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1828800" y="4123944"/>
            <a:ext cx="36576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0" y="4069080"/>
            <a:ext cx="6629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total revenue driven by the 35-54 age group — the highest-priority marketing segment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" y="4663440"/>
            <a:ext cx="8503920" cy="347472"/>
          </a:xfrm>
          <a:prstGeom prst="rect">
            <a:avLst/>
          </a:prstGeom>
          <a:solidFill>
            <a:srgbClr val="0A2540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7000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analysis enables data-driven decisions in marketing, discount strategy, loyalty programmes, and product positioning.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67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— What Comes Next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0" y="4892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24128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24128"/>
            <a:ext cx="406908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252728"/>
            <a:ext cx="475488" cy="4754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24712" y="125272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Churn Modelling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21208" y="1801368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ML classification (Random Forest, XGBoost) to predict which customers are at risk of churning before they lapse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663440" y="1024128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1024128"/>
            <a:ext cx="406908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1252728"/>
            <a:ext cx="475488" cy="4754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68112" y="125272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RFM Segmentation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864608" y="1801368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Recency-Frequency-Monetary scoring to build a quantified customer value model beyond binary loyalty tiers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20040" y="3017520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20040" y="3017520"/>
            <a:ext cx="4069080" cy="64008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3246120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24712" y="324612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Engine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21208" y="37947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collaborative filtering model to suggest products to customers based on similar purchase history patterns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663440" y="3017520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663440" y="3017520"/>
            <a:ext cx="4069080" cy="64008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3246120"/>
            <a:ext cx="475488" cy="47548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68112" y="324612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Testing Framework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4864608" y="37947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discount A/B tests to quantitatively measure the revenue impact of promotional strategies on different segments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594360"/>
            <a:ext cx="1554480" cy="1554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228600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365760" y="2944368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3200400" y="3749040"/>
            <a:ext cx="27432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38862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Shopping Behaviour Analysis  ·  Python  ·  SQL  ·  Power BI  ·  April 2026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882896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tells the story. Strategy writes the future.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Shopping Behaviour Analysis</dc:title>
  <dc:subject>PptxGenJS Presentation</dc:subject>
  <dc:creator>PptxGenJS</dc:creator>
  <cp:lastModifiedBy>PptxGenJS</cp:lastModifiedBy>
  <cp:revision>1</cp:revision>
  <dcterms:created xsi:type="dcterms:W3CDTF">2026-04-02T03:21:01Z</dcterms:created>
  <dcterms:modified xsi:type="dcterms:W3CDTF">2026-04-02T03:21:01Z</dcterms:modified>
</cp:coreProperties>
</file>